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Meiryo UI"/>
              </a:defRPr>
            </a:pPr>
            <a:r>
              <a:t>SuccessFactors グローバルロールアウト</a:t>
            </a:r>
          </a:p>
          <a:p>
            <a:r>
              <a:t>日本・南アフリカ統合プロジェクト リスク分析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0" y="7315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latin typeface="Meiryo UI"/>
              </a:defRPr>
            </a:pPr>
            <a:r>
              <a:t>2025.08.25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Meiryo UI"/>
              </a:defRPr>
            </a:pPr>
            <a:r>
              <a:t>調査概要：2024-2025年 SuccessFactors 導入事例分析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Meiryo UI"/>
              </a:defRPr>
            </a:pPr>
            <a:r>
              <a:t>10件以上の実装事例から抽出した共通リスクと成功要因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Meiryo UI"/>
              </a:defRPr>
            </a:pPr>
            <a:r>
              <a:t>• **分析対象：** 2024年から2025年のSuccessFactors導入プロジェクト</a:t>
            </a:r>
          </a:p>
          <a:p>
            <a:pPr>
              <a:spcAft>
                <a:spcPts val="800"/>
              </a:spcAft>
              <a:defRPr sz="1800">
                <a:latin typeface="Meiryo UI"/>
              </a:defRPr>
            </a:pPr>
            <a:r>
              <a:t>• **調査範囲：** グローバル企業のマルチインスタンス統合事例</a:t>
            </a:r>
          </a:p>
          <a:p>
            <a:pPr>
              <a:spcAft>
                <a:spcPts val="800"/>
              </a:spcAft>
              <a:defRPr sz="1800">
                <a:latin typeface="Meiryo UI"/>
              </a:defRPr>
            </a:pPr>
            <a:r>
              <a:t>• **特定リスク：** 日本本社・南アフリカ子会社統合における課題</a:t>
            </a:r>
          </a:p>
          <a:p>
            <a:pPr>
              <a:spcAft>
                <a:spcPts val="800"/>
              </a:spcAft>
              <a:defRPr sz="1800">
                <a:latin typeface="Meiryo UI"/>
              </a:defRPr>
            </a:pPr>
            <a:r>
              <a:t>• **抽出項目：** 技術的リスク、運用リスク、組織的リスク</a:t>
            </a:r>
          </a:p>
          <a:p>
            <a:pPr>
              <a:spcAft>
                <a:spcPts val="800"/>
              </a:spcAft>
              <a:defRPr sz="1800">
                <a:latin typeface="Meiryo UI"/>
              </a:defRPr>
            </a:pPr>
            <a:r>
              <a:t>• **成功要因：** プロジェクト成功につながる対処策とベストプラクティス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Meiryo UI"/>
              </a:defRPr>
            </a:pPr>
            <a:r>
              <a:t>主要リスクカテゴリー分析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Meiryo UI"/>
              </a:defRPr>
            </a:pPr>
            <a:r>
              <a:t>技術的リスクと運用リスクの対比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Meiryo UI"/>
              </a:defRPr>
            </a:pPr>
            <a:r>
              <a:t>技術的リスク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286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C6600"/>
                </a:solidFill>
                <a:latin typeface="Meiryo UI"/>
              </a:defRPr>
            </a:pPr>
            <a:r>
              <a:t>運用リスク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Meiryo UI"/>
              </a:defRPr>
            </a:pPr>
            <a:r>
              <a:t>• **マルチインスタンス統合**</a:t>
            </a:r>
            <a:br/>
            <a:r>
              <a:t>複数のEmployee Central統合時の技術課題</a:t>
            </a:r>
          </a:p>
          <a:p>
            <a:pPr>
              <a:spcAft>
                <a:spcPts val="600"/>
              </a:spcAft>
              <a:defRPr sz="1400">
                <a:latin typeface="Meiryo UI"/>
              </a:defRPr>
            </a:pPr>
            <a:r>
              <a:t>• **認証システム移行**</a:t>
            </a:r>
            <a:br/>
            <a:r>
              <a:t>2025年6月OAuth 2.0必須対応</a:t>
            </a:r>
          </a:p>
          <a:p>
            <a:pPr>
              <a:spcAft>
                <a:spcPts val="600"/>
              </a:spcAft>
              <a:defRPr sz="1400">
                <a:latin typeface="Meiryo UI"/>
              </a:defRPr>
            </a:pPr>
            <a:r>
              <a:t>• **APIデプリケーション**</a:t>
            </a:r>
            <a:br/>
            <a:r>
              <a:t>SOAP API廃止への対応（2025年5月）</a:t>
            </a:r>
          </a:p>
          <a:p>
            <a:pPr>
              <a:spcAft>
                <a:spcPts val="600"/>
              </a:spcAft>
              <a:defRPr sz="1400">
                <a:latin typeface="Meiryo UI"/>
              </a:defRPr>
            </a:pPr>
            <a:r>
              <a:t>• **データ整合性確保**</a:t>
            </a:r>
            <a:br/>
            <a:r>
              <a:t>システム間データ同期の複雑性</a:t>
            </a:r>
          </a:p>
          <a:p>
            <a:pPr>
              <a:spcAft>
                <a:spcPts val="600"/>
              </a:spcAft>
              <a:defRPr sz="1400">
                <a:latin typeface="Meiryo UI"/>
              </a:defRPr>
            </a:pPr>
            <a:r>
              <a:t>• **レポーティング統合**</a:t>
            </a:r>
            <a:br/>
            <a:r>
              <a:t>異なる地域間での統一レポート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Meiryo UI"/>
              </a:defRPr>
            </a:pPr>
            <a:r>
              <a:t>• **変革管理**</a:t>
            </a:r>
            <a:br/>
            <a:r>
              <a:t>ユーザー受け入れとトレーニング課題</a:t>
            </a:r>
          </a:p>
          <a:p>
            <a:pPr>
              <a:spcAft>
                <a:spcPts val="600"/>
              </a:spcAft>
              <a:defRPr sz="1400">
                <a:latin typeface="Meiryo UI"/>
              </a:defRPr>
            </a:pPr>
            <a:r>
              <a:t>• **段階的ロールアウト**</a:t>
            </a:r>
            <a:br/>
            <a:r>
              <a:t>移行期間中の業務継続リスク</a:t>
            </a:r>
          </a:p>
          <a:p>
            <a:pPr>
              <a:spcAft>
                <a:spcPts val="600"/>
              </a:spcAft>
              <a:defRPr sz="1400">
                <a:latin typeface="Meiryo UI"/>
              </a:defRPr>
            </a:pPr>
            <a:r>
              <a:t>• **地域固有要件**</a:t>
            </a:r>
            <a:br/>
            <a:r>
              <a:t>日本・南アフリカの法的規制対応</a:t>
            </a:r>
          </a:p>
          <a:p>
            <a:pPr>
              <a:spcAft>
                <a:spcPts val="600"/>
              </a:spcAft>
              <a:defRPr sz="1400">
                <a:latin typeface="Meiryo UI"/>
              </a:defRPr>
            </a:pPr>
            <a:r>
              <a:t>• **データ品質管理**</a:t>
            </a:r>
            <a:br/>
            <a:r>
              <a:t>レガシーデータの変換・検証</a:t>
            </a:r>
          </a:p>
          <a:p>
            <a:pPr>
              <a:spcAft>
                <a:spcPts val="600"/>
              </a:spcAft>
              <a:defRPr sz="1400">
                <a:latin typeface="Meiryo UI"/>
              </a:defRPr>
            </a:pPr>
            <a:r>
              <a:t>• **プロジェクト体制**</a:t>
            </a:r>
            <a:br/>
            <a:r>
              <a:t>専門スキル不足とパートナー依存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Meiryo UI"/>
              </a:defRPr>
            </a:pPr>
            <a:r>
              <a:t>2025年 必須対応スケジュール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Meiryo UI"/>
              </a:defRPr>
            </a:pPr>
            <a:r>
              <a:t>SAP SuccessFactorsシステム変更に伴う対応期限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800"/>
                </a:solidFill>
                <a:latin typeface="Meiryo UI"/>
              </a:defRPr>
            </a:pPr>
            <a:r>
              <a:t>2025年5月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9800"/>
                </a:solidFill>
                <a:latin typeface="Meiryo UI"/>
              </a:defRPr>
            </a:pPr>
            <a:r>
              <a:t>SOAP API廃止対応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800"/>
                </a:solidFill>
                <a:latin typeface="Meiryo UI"/>
              </a:defRPr>
            </a:pPr>
            <a:r>
              <a:t>2025年6月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38327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9800"/>
                </a:solidFill>
                <a:latin typeface="Meiryo UI"/>
              </a:defRPr>
            </a:pPr>
            <a:r>
              <a:t>SSO証明書期限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800"/>
                </a:solidFill>
                <a:latin typeface="Meiryo UI"/>
              </a:defRPr>
            </a:pPr>
            <a:r>
              <a:t>2025年6月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206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9800"/>
                </a:solidFill>
                <a:latin typeface="Meiryo UI"/>
              </a:defRPr>
            </a:pPr>
            <a:r>
              <a:t>基本認証サポート終了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E9E9E"/>
                </a:solidFill>
                <a:latin typeface="Meiryo UI"/>
              </a:defRPr>
            </a:pPr>
            <a:r>
              <a:t>2026年後半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E9E9E"/>
                </a:solidFill>
                <a:latin typeface="Meiryo UI"/>
              </a:defRPr>
            </a:pPr>
            <a:r>
              <a:t>レポート機能移行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E9E9E"/>
                </a:solidFill>
                <a:latin typeface="Meiryo UI"/>
              </a:defRPr>
            </a:pPr>
            <a:r>
              <a:t>2026年11月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E9E9E"/>
                </a:solidFill>
                <a:latin typeface="Meiryo UI"/>
              </a:defRPr>
            </a:pPr>
            <a:r>
              <a:t>基本認証完全削除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Meiryo UI"/>
              </a:defRPr>
            </a:pPr>
            <a:r>
              <a:t>統合成功のための対処策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Meiryo UI"/>
              </a:defRPr>
            </a:pPr>
            <a:r>
              <a:t>実装事例から導出された効果的な対策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377440"/>
            <a:ext cx="576072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14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**段階的移行戦略**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一括移行ではなく段階的アプローチで</a:t>
            </a:r>
            <a:br/>
            <a:r>
              <a:t>リスクを分散・最小化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2377440"/>
            <a:ext cx="576072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2514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**専用テスト環境**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データ移行専用環境を構築し</a:t>
            </a:r>
            <a:br/>
            <a:r>
              <a:t>安定した検証環境を確保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576072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434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**データガバナンス強化**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移行データの品質管理と</a:t>
            </a:r>
            <a:br/>
            <a:r>
              <a:t>責任体制の明確化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297680"/>
            <a:ext cx="576072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4434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**変革管理プログラム**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ユーザートレーニングと</a:t>
            </a:r>
            <a:br/>
            <a:r>
              <a:t>コミュニケーション戦略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217920"/>
            <a:ext cx="576072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355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**OAuth 2.0 早期移行**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2025年期限前の</a:t>
            </a:r>
            <a:br/>
            <a:r>
              <a:t>認証システム更新実施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6217920"/>
            <a:ext cx="576072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6355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eiryo UI"/>
              </a:defRPr>
            </a:pPr>
            <a:r>
              <a:t>**統合パートナー活用**</a:t>
            </a:r>
          </a:p>
          <a:p>
            <a:pPr>
              <a:defRPr sz="1100">
                <a:solidFill>
                  <a:srgbClr val="666666"/>
                </a:solidFill>
                <a:latin typeface="Meiryo UI"/>
              </a:defRPr>
            </a:pPr>
            <a:r>
              <a:t>経験豊富な実装パートナーとの</a:t>
            </a:r>
            <a:br/>
            <a:r>
              <a:t>協業体制構築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Meiryo UI"/>
              </a:defRPr>
            </a:pPr>
            <a:r>
              <a:t>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