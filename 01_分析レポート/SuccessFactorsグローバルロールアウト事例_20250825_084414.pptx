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SuccessFactors グローバルロールアウト</a:t>
            </a:r>
          </a:p>
          <a:p>
            <a:r>
              <a:t>日本・南アフリカ統合プロジェクト リスク分析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0" y="73152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/>
            </a:pPr>
            <a:r>
              <a:t>2025.08.25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調査概要：2024-2025年 SuccessFactors 導入事例分析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66666"/>
                </a:solidFill>
              </a:defRPr>
            </a:pPr>
            <a:r>
              <a:t>10件以上の実装事例から抽出した共通リスクと成功要因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2801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**分析対象：** 2024年から2025年のSuccessFactors導入プロジェクト</a:t>
            </a:r>
          </a:p>
          <a:p>
            <a:pPr>
              <a:spcAft>
                <a:spcPts val="1200"/>
              </a:spcAft>
              <a:defRPr sz="2000"/>
            </a:pPr>
            <a:r>
              <a:t>• **調査範囲：** グローバル企業のマルチインスタンス統合事例</a:t>
            </a:r>
          </a:p>
          <a:p>
            <a:pPr>
              <a:spcAft>
                <a:spcPts val="1200"/>
              </a:spcAft>
              <a:defRPr sz="2000"/>
            </a:pPr>
            <a:r>
              <a:t>• **特定リスク：** 日本本社・南アフリカ子会社統合における課題</a:t>
            </a:r>
          </a:p>
          <a:p>
            <a:pPr>
              <a:spcAft>
                <a:spcPts val="1200"/>
              </a:spcAft>
              <a:defRPr sz="2000"/>
            </a:pPr>
            <a:r>
              <a:t>• **抽出項目：** 技術的リスク、運用リスク、組織的リスク</a:t>
            </a:r>
          </a:p>
          <a:p>
            <a:pPr>
              <a:spcAft>
                <a:spcPts val="1200"/>
              </a:spcAft>
              <a:defRPr sz="2000"/>
            </a:pPr>
            <a:r>
              <a:t>• **成功要因：** プロジェクト成功につながる対処策とベストプラクティス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主要リスクカテゴリー分析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66666"/>
                </a:solidFill>
              </a:defRPr>
            </a:pPr>
            <a:r>
              <a:t>技術的リスクと運用リスクの対比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6CC"/>
                </a:solidFill>
              </a:defRPr>
            </a:pPr>
            <a:r>
              <a:t>技術的リスク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228600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CC6600"/>
                </a:solidFill>
              </a:defRPr>
            </a:pPr>
            <a:r>
              <a:t>運用リスク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5943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**マルチインスタンス統合**</a:t>
            </a:r>
            <a:br/>
            <a:r>
              <a:t>複数のEmployee Central統合時の技術課題</a:t>
            </a:r>
          </a:p>
          <a:p>
            <a:pPr>
              <a:spcAft>
                <a:spcPts val="800"/>
              </a:spcAft>
              <a:defRPr sz="1600"/>
            </a:pPr>
            <a:r>
              <a:t>• **認証システム移行**</a:t>
            </a:r>
            <a:br/>
            <a:r>
              <a:t>2025年6月OAuth 2.0必須対応</a:t>
            </a:r>
          </a:p>
          <a:p>
            <a:pPr>
              <a:spcAft>
                <a:spcPts val="800"/>
              </a:spcAft>
              <a:defRPr sz="1600"/>
            </a:pPr>
            <a:r>
              <a:t>• **APIデプリケーション**</a:t>
            </a:r>
            <a:br/>
            <a:r>
              <a:t>SOAP API廃止への対応（2025年5月）</a:t>
            </a:r>
          </a:p>
          <a:p>
            <a:pPr>
              <a:spcAft>
                <a:spcPts val="800"/>
              </a:spcAft>
              <a:defRPr sz="1600"/>
            </a:pPr>
            <a:r>
              <a:t>• **データ整合性確保**</a:t>
            </a:r>
            <a:br/>
            <a:r>
              <a:t>システム間データ同期の複雑性</a:t>
            </a:r>
          </a:p>
          <a:p>
            <a:pPr>
              <a:spcAft>
                <a:spcPts val="800"/>
              </a:spcAft>
              <a:defRPr sz="1600"/>
            </a:pPr>
            <a:r>
              <a:t>• **レポーティング統合**</a:t>
            </a:r>
            <a:br/>
            <a:r>
              <a:t>異なる地域間での統一レポート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926080"/>
            <a:ext cx="5943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**変革管理**</a:t>
            </a:r>
            <a:br/>
            <a:r>
              <a:t>ユーザー受け入れとトレーニング課題</a:t>
            </a:r>
          </a:p>
          <a:p>
            <a:pPr>
              <a:spcAft>
                <a:spcPts val="800"/>
              </a:spcAft>
              <a:defRPr sz="1600"/>
            </a:pPr>
            <a:r>
              <a:t>• **段階的ロールアウト**</a:t>
            </a:r>
            <a:br/>
            <a:r>
              <a:t>移行期間中の業務継続リスク</a:t>
            </a:r>
          </a:p>
          <a:p>
            <a:pPr>
              <a:spcAft>
                <a:spcPts val="800"/>
              </a:spcAft>
              <a:defRPr sz="1600"/>
            </a:pPr>
            <a:r>
              <a:t>• **地域固有要件**</a:t>
            </a:r>
            <a:br/>
            <a:r>
              <a:t>日本・南アフリカの法的規制対応</a:t>
            </a:r>
          </a:p>
          <a:p>
            <a:pPr>
              <a:spcAft>
                <a:spcPts val="800"/>
              </a:spcAft>
              <a:defRPr sz="1600"/>
            </a:pPr>
            <a:r>
              <a:t>• **データ品質管理**</a:t>
            </a:r>
            <a:br/>
            <a:r>
              <a:t>レガシーデータの変換・検証</a:t>
            </a:r>
          </a:p>
          <a:p>
            <a:pPr>
              <a:spcAft>
                <a:spcPts val="800"/>
              </a:spcAft>
              <a:defRPr sz="1600"/>
            </a:pPr>
            <a:r>
              <a:t>• **プロジェクト体制**</a:t>
            </a:r>
            <a:br/>
            <a:r>
              <a:t>専門スキル不足とパートナー依存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2025年 必須対応スケジュール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66666"/>
                </a:solidFill>
              </a:defRPr>
            </a:pPr>
            <a:r>
              <a:t>SAP SuccessFactorsシステム変更に伴う対応期限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9800"/>
                </a:solidFill>
              </a:defRPr>
            </a:pPr>
            <a:r>
              <a:t>2025年5月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7432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9800"/>
                </a:solidFill>
              </a:defRPr>
            </a:pPr>
            <a:r>
              <a:t>SOAP API廃止対応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9800"/>
                </a:solidFill>
              </a:defRPr>
            </a:pPr>
            <a:r>
              <a:t>2025年6月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34747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9800"/>
                </a:solidFill>
              </a:defRPr>
            </a:pPr>
            <a:r>
              <a:t>SSO証明書期限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9800"/>
                </a:solidFill>
              </a:defRPr>
            </a:pPr>
            <a:r>
              <a:t>2025年6月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42062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9800"/>
                </a:solidFill>
              </a:defRPr>
            </a:pPr>
            <a:r>
              <a:t>基本認証サポート終了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937759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9E9E9E"/>
                </a:solidFill>
              </a:defRPr>
            </a:pPr>
            <a:r>
              <a:t>2026年後半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4937759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E9E9E"/>
                </a:solidFill>
              </a:defRPr>
            </a:pPr>
            <a:r>
              <a:t>レポート機能移行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669279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9E9E9E"/>
                </a:solidFill>
              </a:defRPr>
            </a:pPr>
            <a:r>
              <a:t>2026年11月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5669279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E9E9E"/>
                </a:solidFill>
              </a:defRPr>
            </a:pPr>
            <a:r>
              <a:t>基本認証完全削除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統合成功のための対処策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66666"/>
                </a:solidFill>
              </a:defRPr>
            </a:pPr>
            <a:r>
              <a:t>実装事例から導出された効果的な対策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560320"/>
            <a:ext cx="5943600" cy="18288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743200"/>
            <a:ext cx="557784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**段階的移行戦略**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一括移行ではなく段階的アプローチで</a:t>
            </a:r>
            <a:br/>
            <a:r>
              <a:t>リスクを分散・最小化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2560320"/>
            <a:ext cx="5943600" cy="18288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79" y="2743200"/>
            <a:ext cx="557784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**専用テスト環境**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データ移行専用環境を構築し</a:t>
            </a:r>
            <a:br/>
            <a:r>
              <a:t>安定した検証環境を確保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663440"/>
            <a:ext cx="5943600" cy="18288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46320"/>
            <a:ext cx="557784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**データガバナンス強化**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移行データの品質管理と</a:t>
            </a:r>
            <a:br/>
            <a:r>
              <a:t>責任体制の明確化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4663440"/>
            <a:ext cx="5943600" cy="18288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4846320"/>
            <a:ext cx="557784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**変革管理プログラム**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ユーザートレーニングと</a:t>
            </a:r>
            <a:br/>
            <a:r>
              <a:t>コミュニケーション戦略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6766559"/>
            <a:ext cx="5943600" cy="18288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6949440"/>
            <a:ext cx="557784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**OAuth 2.0 早期移行**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2025年期限前の</a:t>
            </a:r>
            <a:br/>
            <a:r>
              <a:t>認証システム更新実施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6766559"/>
            <a:ext cx="5943600" cy="18288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6949440"/>
            <a:ext cx="557784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**統合パートナー活用**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経験豊富な実装パートナーとの</a:t>
            </a:r>
            <a:br/>
            <a:r>
              <a:t>協業体制構築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2004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3366"/>
                </a:solidFill>
              </a:defRPr>
            </a:pPr>
            <a:r>
              <a:t>ありがとうございました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